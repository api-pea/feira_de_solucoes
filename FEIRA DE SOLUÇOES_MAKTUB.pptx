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4"/>
  </p:sldMasterIdLst>
  <p:notesMasterIdLst>
    <p:notesMasterId r:id="rId19"/>
  </p:notesMasterIdLst>
  <p:sldIdLst>
    <p:sldId id="272" r:id="rId5"/>
    <p:sldId id="273" r:id="rId6"/>
    <p:sldId id="274" r:id="rId7"/>
    <p:sldId id="275" r:id="rId8"/>
    <p:sldId id="276" r:id="rId9"/>
    <p:sldId id="263" r:id="rId10"/>
    <p:sldId id="264" r:id="rId11"/>
    <p:sldId id="268" r:id="rId12"/>
    <p:sldId id="271" r:id="rId13"/>
    <p:sldId id="265" r:id="rId14"/>
    <p:sldId id="266" r:id="rId15"/>
    <p:sldId id="270" r:id="rId16"/>
    <p:sldId id="269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E8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48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26158-983A-4264-B320-677D2817B8F2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C3FFCC-3671-4C59-A078-D59E51187A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0102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58017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27406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6017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93B70D-7395-924D-756F-BC9A48B30419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0095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790119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1869368" name="Espaço reservado para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>
              <a:latin typeface="Arial"/>
              <a:cs typeface="Arial"/>
            </a:endParaRPr>
          </a:p>
        </p:txBody>
      </p:sp>
      <p:sp>
        <p:nvSpPr>
          <p:cNvPr id="552785824" name="Marcador de Posição do Número do Diapositivo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844233-3D19-3148-1E67-D1C643D7CDE9}" type="slidenum">
              <a:rPr lang="pt-BR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804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64419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691884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63981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6280D-771F-792F-D75B-C0F591F8027E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0874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64419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691884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63981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6280D-771F-792F-D75B-C0F591F8027E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5025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38250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154245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66166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FD3A11-D42F-1DA9-26F6-454DEE25B6F3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2054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12308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50237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346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A7C3C6-B67D-71E6-8331-7C57DFB26B76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04531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19900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08825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3108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EB54B6-9911-568E-13A0-46FA8922F78D}" type="slidenum">
              <a:rPr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2191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606033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3261123" name="Espaço reservado para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>
              <a:latin typeface="Arial"/>
              <a:cs typeface="Arial"/>
            </a:endParaRPr>
          </a:p>
        </p:txBody>
      </p:sp>
      <p:sp>
        <p:nvSpPr>
          <p:cNvPr id="1559502143" name="Marcador de Posição do Número do Diapositivo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1D97A6-B413-721C-8F2A-5309FBA78760}" type="slidenum">
              <a:rPr lang="pt-BR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3499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Sunday, November 30,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88929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Sunday, November 30,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65421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Sunday, November 30,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60048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Sunday, November 30,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5683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Sunday, November 30, 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53104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Sunday, November 30,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81953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Sunday, November 30, 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68286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Sunday, November 30,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54576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Sunday, November 30,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2691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Sunday, November 30,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5407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Sunday, November 30,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9246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Sunday, November 30,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209080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Sunday, November 30,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70303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Sunday, November 30,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2057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Sunday, November 30,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69481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Sunday, November 30,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64866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Sunday, November 30,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73338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Contents slide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7445909" name="Text Placeholder 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BASIC LAYOUT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13750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Sunday, November 30,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0969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20.pn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jpeg"/><Relationship Id="rId4" Type="http://schemas.openxmlformats.org/officeDocument/2006/relationships/image" Target="../media/image18.png"/><Relationship Id="rId9" Type="http://schemas.openxmlformats.org/officeDocument/2006/relationships/image" Target="../media/image2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546670"/>
            <a:ext cx="7739743" cy="1780313"/>
          </a:xfrm>
        </p:spPr>
        <p:txBody>
          <a:bodyPr>
            <a:normAutofit/>
          </a:bodyPr>
          <a:lstStyle/>
          <a:p>
            <a:r>
              <a:rPr lang="pt-BR" sz="5000" dirty="0"/>
              <a:t>XII Feira de Soluções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4654" y="3322755"/>
            <a:ext cx="7598267" cy="527289"/>
          </a:xfrm>
        </p:spPr>
        <p:txBody>
          <a:bodyPr>
            <a:normAutofit fontScale="47500" lnSpcReduction="20000"/>
          </a:bodyPr>
          <a:lstStyle/>
          <a:p>
            <a:r>
              <a:rPr lang="pt-BR" sz="2800" dirty="0"/>
              <a:t>Berço de Movimentação e Inspeção de Painel Aeronáutico.</a:t>
            </a:r>
          </a:p>
          <a:p>
            <a:r>
              <a:rPr lang="pt-BR" sz="2800" dirty="0"/>
              <a:t>Benefícios: Segurança, Ergonomia e Eficiência.</a:t>
            </a:r>
          </a:p>
        </p:txBody>
      </p:sp>
      <p:sp>
        <p:nvSpPr>
          <p:cNvPr id="5" name="Subtítulo 2"/>
          <p:cNvSpPr txBox="1"/>
          <p:nvPr/>
        </p:nvSpPr>
        <p:spPr>
          <a:xfrm>
            <a:off x="104654" y="4873653"/>
            <a:ext cx="6770952" cy="62252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28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20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8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6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6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dirty="0">
                <a:solidFill>
                  <a:schemeClr val="tx1">
                    <a:lumMod val="95000"/>
                    <a:alpha val="58000"/>
                  </a:schemeClr>
                </a:solidFill>
              </a:rPr>
              <a:t>MAKTUB</a:t>
            </a:r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BBCB9E48-970F-20A3-7460-997D0988DF64}"/>
              </a:ext>
            </a:extLst>
          </p:cNvPr>
          <p:cNvSpPr txBox="1"/>
          <p:nvPr/>
        </p:nvSpPr>
        <p:spPr>
          <a:xfrm>
            <a:off x="8619345" y="5769185"/>
            <a:ext cx="3431180" cy="49660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28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20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8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6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6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dirty="0">
                <a:solidFill>
                  <a:schemeClr val="tx1">
                    <a:lumMod val="95000"/>
                    <a:alpha val="58000"/>
                  </a:schemeClr>
                </a:solidFill>
              </a:rPr>
              <a:t>SJC - 04/12/2025</a:t>
            </a:r>
          </a:p>
        </p:txBody>
      </p:sp>
      <p:pic>
        <p:nvPicPr>
          <p:cNvPr id="4" name="Imagem 3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E07067F6-D045-E643-FBEF-BFB72EFDB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975"/>
    </mc:Choice>
    <mc:Fallback xmlns="">
      <p:transition spd="slow" advTm="3297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64129" y="0"/>
            <a:ext cx="8953756" cy="794475"/>
          </a:xfrm>
        </p:spPr>
        <p:txBody>
          <a:bodyPr vert="horz" wrap="square" lIns="0" tIns="0" rIns="0" bIns="0" rtlCol="0" anchor="b" anchorCtr="0">
            <a:normAutofit fontScale="90000"/>
          </a:bodyPr>
          <a:lstStyle/>
          <a:p>
            <a:pPr algn="ctr"/>
            <a:r>
              <a:rPr lang="pt-BR" sz="5600" b="1" spc="-100"/>
              <a:t>Integrantes</a:t>
            </a:r>
            <a:endParaRPr lang="pt-BR" sz="5600" b="1" spc="-100" dirty="0"/>
          </a:p>
        </p:txBody>
      </p:sp>
      <p:pic>
        <p:nvPicPr>
          <p:cNvPr id="7" name="Imagem 6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26F81DF9-746D-E904-C092-3E2DDEF01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605625" y="5532078"/>
            <a:ext cx="12490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Eliza Souza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91" y="3732589"/>
            <a:ext cx="1240378" cy="1655895"/>
          </a:xfrm>
          <a:prstGeom prst="rect">
            <a:avLst/>
          </a:prstGeom>
          <a:solidFill>
            <a:srgbClr val="FFFFFF">
              <a:shade val="85000"/>
            </a:srgbClr>
          </a:solidFill>
          <a:ln w="381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CaixaDeTexto 8"/>
          <p:cNvSpPr txBox="1"/>
          <p:nvPr/>
        </p:nvSpPr>
        <p:spPr>
          <a:xfrm>
            <a:off x="2415744" y="5532077"/>
            <a:ext cx="13740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/>
              <a:t>Katty</a:t>
            </a:r>
            <a:r>
              <a:rPr lang="pt-BR" sz="1600" dirty="0"/>
              <a:t>  Paula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8109479" y="3394034"/>
            <a:ext cx="17075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Jorge Henrique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5900617" y="3394034"/>
            <a:ext cx="20954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Sidney Nascimento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181877" y="5532077"/>
            <a:ext cx="17187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Fabio Carvalho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2494272" y="3732589"/>
            <a:ext cx="1240378" cy="1655895"/>
          </a:xfrm>
          <a:prstGeom prst="rect">
            <a:avLst/>
          </a:prstGeom>
          <a:solidFill>
            <a:schemeClr val="tx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/>
          <p:cNvSpPr/>
          <p:nvPr/>
        </p:nvSpPr>
        <p:spPr>
          <a:xfrm>
            <a:off x="8347235" y="1594545"/>
            <a:ext cx="1240378" cy="1655895"/>
          </a:xfrm>
          <a:prstGeom prst="rect">
            <a:avLst/>
          </a:prstGeom>
          <a:solidFill>
            <a:schemeClr val="tx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/>
          <p:cNvSpPr/>
          <p:nvPr/>
        </p:nvSpPr>
        <p:spPr>
          <a:xfrm>
            <a:off x="6328150" y="1594543"/>
            <a:ext cx="1240378" cy="1655895"/>
          </a:xfrm>
          <a:prstGeom prst="rect">
            <a:avLst/>
          </a:prstGeom>
          <a:solidFill>
            <a:schemeClr val="tx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/>
          <p:cNvSpPr/>
          <p:nvPr/>
        </p:nvSpPr>
        <p:spPr>
          <a:xfrm>
            <a:off x="4392985" y="3735709"/>
            <a:ext cx="1240378" cy="1655895"/>
          </a:xfrm>
          <a:prstGeom prst="rect">
            <a:avLst/>
          </a:prstGeom>
          <a:solidFill>
            <a:schemeClr val="tx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/>
          <p:cNvSpPr txBox="1"/>
          <p:nvPr/>
        </p:nvSpPr>
        <p:spPr>
          <a:xfrm>
            <a:off x="10020474" y="3394034"/>
            <a:ext cx="19415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Leandro Macedo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10371064" y="1594544"/>
            <a:ext cx="1240378" cy="1655895"/>
          </a:xfrm>
          <a:prstGeom prst="rect">
            <a:avLst/>
          </a:prstGeom>
          <a:solidFill>
            <a:schemeClr val="tx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596" y="3732588"/>
            <a:ext cx="1202389" cy="1655896"/>
          </a:xfrm>
          <a:prstGeom prst="rect">
            <a:avLst/>
          </a:prstGeom>
        </p:spPr>
      </p:pic>
      <p:pic>
        <p:nvPicPr>
          <p:cNvPr id="8" name="Imagem 7" descr="Rosto de homem visto de perto&#10;&#10;O conteúdo gerado por IA pode estar incorreto.">
            <a:extLst>
              <a:ext uri="{FF2B5EF4-FFF2-40B4-BE49-F238E27FC236}">
                <a16:creationId xmlns:a16="http://schemas.microsoft.com/office/drawing/2014/main" id="{20AF51D6-4488-916C-EB4F-432C811688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2439" y="1661813"/>
            <a:ext cx="1067056" cy="1521353"/>
          </a:xfrm>
          <a:prstGeom prst="rect">
            <a:avLst/>
          </a:prstGeom>
        </p:spPr>
      </p:pic>
      <p:pic>
        <p:nvPicPr>
          <p:cNvPr id="4" name="Imagem 3" descr="imagem do perfil">
            <a:extLst>
              <a:ext uri="{FF2B5EF4-FFF2-40B4-BE49-F238E27FC236}">
                <a16:creationId xmlns:a16="http://schemas.microsoft.com/office/drawing/2014/main" id="{FD425F4B-0535-5717-DA75-1F9C63BF63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1109" y="1606379"/>
            <a:ext cx="1225378" cy="1647566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5201" y="1634088"/>
            <a:ext cx="1168532" cy="1576787"/>
          </a:xfrm>
          <a:prstGeom prst="rect">
            <a:avLst/>
          </a:prstGeom>
        </p:spPr>
      </p:pic>
      <p:pic>
        <p:nvPicPr>
          <p:cNvPr id="1026" name="Picture 2" descr="https://media-gru2-1.cdn.whatsapp.net/v/t61.24694-24/424430330_934781238090117_7236814100597246643_n.jpg?ccb=11-4&amp;oh=01_Q5Aa3AGGc0hlIoWoXl_ujuVWRjWCUzHwavhXrtSKycv_Hom-bQ&amp;oe=6931C32D&amp;_nc_sid=5e03e0&amp;_nc_cat=10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603" y="3732588"/>
            <a:ext cx="1241760" cy="1655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29"/>
    </mc:Choice>
    <mc:Fallback xmlns="">
      <p:transition spd="slow" advTm="1262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95B7E-B68D-0739-924B-524BAED5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3C389931-D748-2D27-6650-BC497EE613B2}"/>
              </a:ext>
            </a:extLst>
          </p:cNvPr>
          <p:cNvSpPr txBox="1">
            <a:spLocks/>
          </p:cNvSpPr>
          <p:nvPr/>
        </p:nvSpPr>
        <p:spPr>
          <a:xfrm>
            <a:off x="2739276" y="63026"/>
            <a:ext cx="8953756" cy="794475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5600" b="1" spc="-100" dirty="0"/>
              <a:t>MATRIZ DE RESPONSABILIDADE</a:t>
            </a:r>
          </a:p>
        </p:txBody>
      </p:sp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38C80F0F-401E-D92E-7290-6FE2EB8BA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9E94694-3E75-66D1-FAF4-39E2C4F2F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350" y="1873771"/>
            <a:ext cx="9103299" cy="361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250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263"/>
    </mc:Choice>
    <mc:Fallback xmlns="">
      <p:transition spd="slow" advTm="5026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1DA86E2-FE60-CF24-19D7-848C1031FC7F}"/>
              </a:ext>
            </a:extLst>
          </p:cNvPr>
          <p:cNvSpPr txBox="1"/>
          <p:nvPr/>
        </p:nvSpPr>
        <p:spPr>
          <a:xfrm>
            <a:off x="247840" y="1853211"/>
            <a:ext cx="901385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O objetivo do projeto é desenvolver um ferramental escamoteável que permita a movimentação, posicionamento e inspeção de painéis aeronáuticos de forma segura, ergonômica e eficiente.</a:t>
            </a:r>
          </a:p>
        </p:txBody>
      </p:sp>
      <p:sp>
        <p:nvSpPr>
          <p:cNvPr id="7" name="Retângulo 6"/>
          <p:cNvSpPr/>
          <p:nvPr/>
        </p:nvSpPr>
        <p:spPr>
          <a:xfrm>
            <a:off x="7437502" y="5466492"/>
            <a:ext cx="4528456" cy="1065937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P2 – Rodrigo Elias Pereira</a:t>
            </a:r>
          </a:p>
          <a:p>
            <a:pPr algn="ctr"/>
            <a:r>
              <a:rPr lang="pt-BR" sz="2400" dirty="0">
                <a:solidFill>
                  <a:schemeClr val="bg1"/>
                </a:solidFill>
              </a:rPr>
              <a:t>M2 – Reinaldo Fagundes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E309FA6-8FE3-DB96-35CD-4D2EE081ADEC}"/>
              </a:ext>
            </a:extLst>
          </p:cNvPr>
          <p:cNvSpPr txBox="1">
            <a:spLocks/>
          </p:cNvSpPr>
          <p:nvPr/>
        </p:nvSpPr>
        <p:spPr>
          <a:xfrm>
            <a:off x="2964129" y="0"/>
            <a:ext cx="8953756" cy="794475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5600" b="1" spc="-100" dirty="0"/>
              <a:t>O DESAFIO</a:t>
            </a:r>
          </a:p>
        </p:txBody>
      </p:sp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12880DE0-CC58-FBFE-113B-5B324A496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60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845"/>
    </mc:Choice>
    <mc:Fallback xmlns="">
      <p:transition spd="slow" advTm="4084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C017AC73-70CC-3982-EDA5-A3CF6B633D21}"/>
              </a:ext>
            </a:extLst>
          </p:cNvPr>
          <p:cNvSpPr txBox="1">
            <a:spLocks/>
          </p:cNvSpPr>
          <p:nvPr/>
        </p:nvSpPr>
        <p:spPr>
          <a:xfrm>
            <a:off x="2964129" y="0"/>
            <a:ext cx="8953756" cy="794475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5600" b="1" spc="-100" dirty="0"/>
              <a:t>TECNOLOGIAS</a:t>
            </a:r>
          </a:p>
        </p:txBody>
      </p:sp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671390F7-91B8-FA04-E331-D60A1B900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658" y="2139772"/>
            <a:ext cx="2400300" cy="19050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876" y="4651881"/>
            <a:ext cx="2795793" cy="1565644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5"/>
          <a:srcRect b="11094"/>
          <a:stretch/>
        </p:blipFill>
        <p:spPr>
          <a:xfrm>
            <a:off x="7566211" y="2139394"/>
            <a:ext cx="2143125" cy="19053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CF04ECA-06C9-45B8-9D0A-99CF6E50A4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4112" y="4651881"/>
            <a:ext cx="3095625" cy="1476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518"/>
    </mc:Choice>
    <mc:Fallback xmlns="">
      <p:transition spd="slow" advTm="2251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301937" name="CaixaDeTexto 493518154"/>
          <p:cNvSpPr txBox="1"/>
          <p:nvPr/>
        </p:nvSpPr>
        <p:spPr bwMode="auto">
          <a:xfrm>
            <a:off x="207997" y="955429"/>
            <a:ext cx="2868634" cy="3965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000" b="1" dirty="0" err="1"/>
              <a:t>Prova</a:t>
            </a:r>
            <a:r>
              <a:rPr sz="2000" b="1" dirty="0"/>
              <a:t> de </a:t>
            </a:r>
            <a:r>
              <a:rPr sz="2000" b="1" dirty="0" err="1"/>
              <a:t>Conceito</a:t>
            </a:r>
            <a:endParaRPr dirty="0"/>
          </a:p>
        </p:txBody>
      </p:sp>
      <p:sp>
        <p:nvSpPr>
          <p:cNvPr id="1861083053" name="CaixaDeTexto 611826915"/>
          <p:cNvSpPr txBox="1"/>
          <p:nvPr/>
        </p:nvSpPr>
        <p:spPr bwMode="auto">
          <a:xfrm>
            <a:off x="5063900" y="1184826"/>
            <a:ext cx="6889920" cy="104573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200" b="1" dirty="0" err="1"/>
              <a:t>Ferramental</a:t>
            </a:r>
            <a:r>
              <a:rPr sz="2200" b="1" dirty="0"/>
              <a:t>: </a:t>
            </a:r>
            <a:endParaRPr sz="2200" b="0" i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2200" b="0" i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dirty="0" err="1"/>
              <a:t>Berço</a:t>
            </a:r>
            <a:r>
              <a:rPr dirty="0"/>
              <a:t> de </a:t>
            </a:r>
            <a:r>
              <a:rPr dirty="0" err="1"/>
              <a:t>Movimentação</a:t>
            </a:r>
            <a:r>
              <a:rPr dirty="0"/>
              <a:t> e </a:t>
            </a:r>
            <a:r>
              <a:rPr dirty="0" err="1"/>
              <a:t>Inspeção</a:t>
            </a:r>
            <a:r>
              <a:rPr dirty="0"/>
              <a:t> de </a:t>
            </a:r>
            <a:r>
              <a:rPr dirty="0" err="1"/>
              <a:t>Painel</a:t>
            </a:r>
            <a:r>
              <a:rPr dirty="0"/>
              <a:t> </a:t>
            </a:r>
            <a:r>
              <a:rPr dirty="0" err="1"/>
              <a:t>Aeronáutico</a:t>
            </a:r>
            <a:endParaRPr dirty="0"/>
          </a:p>
        </p:txBody>
      </p:sp>
      <p:sp>
        <p:nvSpPr>
          <p:cNvPr id="457664057" name="Seta para a Direita 630239645"/>
          <p:cNvSpPr/>
          <p:nvPr/>
        </p:nvSpPr>
        <p:spPr bwMode="auto">
          <a:xfrm rot="1917781">
            <a:off x="4968287" y="3799252"/>
            <a:ext cx="1277760" cy="76182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2076082018" name="Text Placeholder 1"/>
          <p:cNvSpPr>
            <a:spLocks noGrp="1"/>
          </p:cNvSpPr>
          <p:nvPr>
            <p:ph type="body" sz="quarter" idx="10"/>
          </p:nvPr>
        </p:nvSpPr>
        <p:spPr bwMode="auto">
          <a:xfrm>
            <a:off x="1052944" y="68367"/>
            <a:ext cx="7869381" cy="62892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pt-BR" sz="5500" b="1" dirty="0">
                <a:solidFill>
                  <a:schemeClr val="tx1"/>
                </a:solidFill>
              </a:rPr>
              <a:t>SOLUÇÃO</a:t>
            </a:r>
            <a:endParaRPr lang="en-US" sz="5500" dirty="0"/>
          </a:p>
        </p:txBody>
      </p:sp>
      <p:sp>
        <p:nvSpPr>
          <p:cNvPr id="2059978473" name="Retângulo 2"/>
          <p:cNvSpPr/>
          <p:nvPr/>
        </p:nvSpPr>
        <p:spPr bwMode="auto">
          <a:xfrm>
            <a:off x="0" y="765663"/>
            <a:ext cx="12192000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623" y="2885266"/>
            <a:ext cx="5456732" cy="3578909"/>
          </a:xfrm>
          <a:prstGeom prst="rect">
            <a:avLst/>
          </a:prstGeom>
        </p:spPr>
      </p:pic>
      <p:pic>
        <p:nvPicPr>
          <p:cNvPr id="11" name="Imagem 4440222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07818" y="1839488"/>
            <a:ext cx="4462893" cy="288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310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396490" name="Retângulo 2"/>
          <p:cNvSpPr/>
          <p:nvPr/>
        </p:nvSpPr>
        <p:spPr bwMode="auto">
          <a:xfrm>
            <a:off x="0" y="765661"/>
            <a:ext cx="12191999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86322354" name="Text Placeholder 1"/>
          <p:cNvSpPr>
            <a:spLocks noGrp="1"/>
          </p:cNvSpPr>
          <p:nvPr>
            <p:ph type="body" sz="quarter" idx="10"/>
          </p:nvPr>
        </p:nvSpPr>
        <p:spPr bwMode="auto">
          <a:xfrm>
            <a:off x="1449816" y="68365"/>
            <a:ext cx="7869380" cy="628925"/>
          </a:xfrm>
        </p:spPr>
        <p:txBody>
          <a:bodyPr/>
          <a:lstStyle/>
          <a:p>
            <a:pPr>
              <a:defRPr/>
            </a:pPr>
            <a:r>
              <a:rPr lang="pt-BR" sz="2800" b="1" i="0">
                <a:solidFill>
                  <a:schemeClr val="tx1"/>
                </a:solidFill>
                <a:latin typeface="Arial"/>
              </a:rPr>
              <a:t>INTERFACE COM A PONTE ROLANTE</a:t>
            </a:r>
            <a:endParaRPr lang="en-US" sz="2800"/>
          </a:p>
        </p:txBody>
      </p:sp>
      <p:sp>
        <p:nvSpPr>
          <p:cNvPr id="344409639" name="CaixaDeTexto 755628484"/>
          <p:cNvSpPr txBox="1"/>
          <p:nvPr/>
        </p:nvSpPr>
        <p:spPr bwMode="auto">
          <a:xfrm>
            <a:off x="215923" y="957447"/>
            <a:ext cx="9648513" cy="40684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/>
              <a:t>MOVIMENTAÇÃO DO PAINEL PELA PONTE ROLANTE NA FABRÍCA</a:t>
            </a:r>
            <a:endParaRPr sz="2000" dirty="0">
              <a:highlight>
                <a:srgbClr val="00FFFF"/>
              </a:highlight>
            </a:endParaRPr>
          </a:p>
        </p:txBody>
      </p:sp>
      <p:pic>
        <p:nvPicPr>
          <p:cNvPr id="94291210" name="Imagem 94291209"/>
          <p:cNvPicPr>
            <a:picLocks noChangeAspect="1"/>
          </p:cNvPicPr>
          <p:nvPr/>
        </p:nvPicPr>
        <p:blipFill rotWithShape="1">
          <a:blip r:embed="rId3"/>
          <a:srcRect l="8724" r="17489"/>
          <a:stretch/>
        </p:blipFill>
        <p:spPr bwMode="auto">
          <a:xfrm>
            <a:off x="8510774" y="1872283"/>
            <a:ext cx="3507847" cy="3615771"/>
          </a:xfrm>
          <a:prstGeom prst="rect">
            <a:avLst/>
          </a:prstGeom>
        </p:spPr>
      </p:pic>
      <p:pic>
        <p:nvPicPr>
          <p:cNvPr id="1758941353" name="Imagem 175894135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683945" y="1872284"/>
            <a:ext cx="4971685" cy="3615771"/>
          </a:xfrm>
          <a:prstGeom prst="rect">
            <a:avLst/>
          </a:prstGeom>
        </p:spPr>
      </p:pic>
      <p:pic>
        <p:nvPicPr>
          <p:cNvPr id="1751500924" name="Imagem 1918035826"/>
          <p:cNvPicPr>
            <a:picLocks noChangeAspect="1"/>
          </p:cNvPicPr>
          <p:nvPr/>
        </p:nvPicPr>
        <p:blipFill rotWithShape="1">
          <a:blip r:embed="rId5"/>
          <a:srcRect l="13200" r="14209"/>
          <a:stretch/>
        </p:blipFill>
        <p:spPr bwMode="auto">
          <a:xfrm>
            <a:off x="215923" y="1872284"/>
            <a:ext cx="4003921" cy="3615771"/>
          </a:xfrm>
          <a:prstGeom prst="rect">
            <a:avLst/>
          </a:prstGeom>
        </p:spPr>
      </p:pic>
      <p:sp>
        <p:nvSpPr>
          <p:cNvPr id="2" name="Seta para a direita 1"/>
          <p:cNvSpPr/>
          <p:nvPr/>
        </p:nvSpPr>
        <p:spPr>
          <a:xfrm>
            <a:off x="3268301" y="3444777"/>
            <a:ext cx="951543" cy="475373"/>
          </a:xfrm>
          <a:prstGeom prst="rightArrow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 para a direita 9"/>
          <p:cNvSpPr/>
          <p:nvPr/>
        </p:nvSpPr>
        <p:spPr bwMode="auto">
          <a:xfrm>
            <a:off x="7559231" y="3444777"/>
            <a:ext cx="951543" cy="475373"/>
          </a:xfrm>
          <a:prstGeom prst="rightArrow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2220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3CC5E3A1-60B1-4A09-85FA-C9B0ABA4A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69803" y="1513050"/>
            <a:ext cx="3604662" cy="2320648"/>
          </a:xfrm>
          <a:prstGeom prst="rect">
            <a:avLst/>
          </a:prstGeom>
        </p:spPr>
      </p:pic>
      <p:sp>
        <p:nvSpPr>
          <p:cNvPr id="1728671805" name="Retângulo 2"/>
          <p:cNvSpPr/>
          <p:nvPr/>
        </p:nvSpPr>
        <p:spPr bwMode="auto">
          <a:xfrm>
            <a:off x="0" y="765663"/>
            <a:ext cx="12192000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pic>
        <p:nvPicPr>
          <p:cNvPr id="2077477548" name="Imagem 2077477547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978977" y="2545016"/>
            <a:ext cx="6043220" cy="3674931"/>
          </a:xfrm>
          <a:prstGeom prst="rect">
            <a:avLst/>
          </a:prstGeom>
        </p:spPr>
      </p:pic>
      <p:sp>
        <p:nvSpPr>
          <p:cNvPr id="1410921483" name="Seta: Dobrada 1410921482"/>
          <p:cNvSpPr/>
          <p:nvPr/>
        </p:nvSpPr>
        <p:spPr bwMode="auto">
          <a:xfrm>
            <a:off x="332130" y="2352230"/>
            <a:ext cx="532753" cy="3309533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ln w="19049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2094662783" name="CaixaDeTexto 2094662782"/>
          <p:cNvSpPr txBox="1"/>
          <p:nvPr/>
        </p:nvSpPr>
        <p:spPr bwMode="auto">
          <a:xfrm>
            <a:off x="73939" y="5682711"/>
            <a:ext cx="5343187" cy="72135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b="1" dirty="0"/>
              <a:t>A PROTEÇÃO DE BORRACHA</a:t>
            </a:r>
          </a:p>
          <a:p>
            <a:pPr>
              <a:defRPr/>
            </a:pPr>
            <a:r>
              <a:rPr lang="pt-BR" sz="2000" b="1" dirty="0"/>
              <a:t>NÃO DANIFICA O PAINEL, BOA FIXAÇÃO. </a:t>
            </a:r>
            <a:endParaRPr sz="2000" b="1" dirty="0"/>
          </a:p>
        </p:txBody>
      </p:sp>
      <p:cxnSp>
        <p:nvCxnSpPr>
          <p:cNvPr id="1057931334" name="Conector: Angulado 1057931333"/>
          <p:cNvCxnSpPr/>
          <p:nvPr/>
        </p:nvCxnSpPr>
        <p:spPr bwMode="auto">
          <a:xfrm>
            <a:off x="3504915" y="2282205"/>
            <a:ext cx="7412751" cy="575295"/>
          </a:xfrm>
          <a:prstGeom prst="bentConnector3">
            <a:avLst>
              <a:gd name="adj1" fmla="val 50000"/>
            </a:avLst>
          </a:prstGeom>
          <a:ln w="38099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4568538" name="Conector: Angulado 1244568537"/>
          <p:cNvCxnSpPr/>
          <p:nvPr/>
        </p:nvCxnSpPr>
        <p:spPr bwMode="auto">
          <a:xfrm>
            <a:off x="3504915" y="2857500"/>
            <a:ext cx="3366940" cy="1188027"/>
          </a:xfrm>
          <a:prstGeom prst="bentConnector3">
            <a:avLst>
              <a:gd name="adj1" fmla="val 50000"/>
            </a:avLst>
          </a:prstGeom>
          <a:ln w="38099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headEnd type="arrow" len="me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7428905" name="CaixaDeTexto 807428904"/>
          <p:cNvSpPr txBox="1"/>
          <p:nvPr/>
        </p:nvSpPr>
        <p:spPr bwMode="auto">
          <a:xfrm>
            <a:off x="3774465" y="1376728"/>
            <a:ext cx="8467607" cy="72135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pt-BR" sz="2000" b="1" dirty="0"/>
              <a:t>A SIMPLICIDADE DE MANUZEIO TORNA A SOLUÇÃO SEGURA E FUNCIONAL.</a:t>
            </a:r>
            <a:endParaRPr sz="2000" b="1" dirty="0"/>
          </a:p>
        </p:txBody>
      </p:sp>
      <p:sp>
        <p:nvSpPr>
          <p:cNvPr id="599651513" name="Text Placeholder 1"/>
          <p:cNvSpPr>
            <a:spLocks noGrp="1"/>
          </p:cNvSpPr>
          <p:nvPr/>
        </p:nvSpPr>
        <p:spPr bwMode="auto">
          <a:xfrm>
            <a:off x="1205343" y="75470"/>
            <a:ext cx="7869380" cy="628926"/>
          </a:xfrm>
        </p:spPr>
        <p:txBody>
          <a:bodyPr lIns="91440" tIns="45720" rIns="91440" bIns="45720" anchor="ctr"/>
          <a:lstStyle>
            <a:lvl1pPr marL="0" indent="0" algn="ctr" defTabSz="914400" rtl="0">
              <a:lnSpc>
                <a:spcPct val="90000"/>
              </a:lnSpc>
              <a:spcBef>
                <a:spcPts val="999"/>
              </a:spcBef>
              <a:buFont typeface="Arial"/>
              <a:buNone/>
              <a:defRPr sz="5400" b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Arial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2600" b="1">
                <a:solidFill>
                  <a:schemeClr val="tx1"/>
                </a:solidFill>
                <a:latin typeface="Arial"/>
              </a:rPr>
              <a:t>INTERFACE DO FERRAMENTAL COM PAINEL</a:t>
            </a:r>
            <a:endParaRPr sz="2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109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671805" name="Retângulo 2"/>
          <p:cNvSpPr/>
          <p:nvPr/>
        </p:nvSpPr>
        <p:spPr bwMode="auto">
          <a:xfrm>
            <a:off x="0" y="765663"/>
            <a:ext cx="12192000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99651513" name="Text Placeholder 1"/>
          <p:cNvSpPr>
            <a:spLocks noGrp="1"/>
          </p:cNvSpPr>
          <p:nvPr/>
        </p:nvSpPr>
        <p:spPr bwMode="auto">
          <a:xfrm>
            <a:off x="1205343" y="75470"/>
            <a:ext cx="7869380" cy="628926"/>
          </a:xfrm>
        </p:spPr>
        <p:txBody>
          <a:bodyPr lIns="91440" tIns="45720" rIns="91440" bIns="45720" anchor="ctr"/>
          <a:lstStyle>
            <a:lvl1pPr marL="0" indent="0" algn="ctr" defTabSz="914400" rtl="0">
              <a:lnSpc>
                <a:spcPct val="90000"/>
              </a:lnSpc>
              <a:spcBef>
                <a:spcPts val="999"/>
              </a:spcBef>
              <a:buFont typeface="Arial"/>
              <a:buNone/>
              <a:defRPr sz="5400" b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Arial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2600" b="1" dirty="0">
                <a:solidFill>
                  <a:schemeClr val="tx1"/>
                </a:solidFill>
                <a:latin typeface="Arial"/>
              </a:rPr>
              <a:t>INTERFACE DO FERRAMENTAL COM PAINEL</a:t>
            </a:r>
            <a:endParaRPr sz="2600" dirty="0">
              <a:solidFill>
                <a:schemeClr val="tx1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5298" y="3835150"/>
            <a:ext cx="4743880" cy="2969853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0539" y="1423192"/>
            <a:ext cx="3604662" cy="2320648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737" y="1393496"/>
            <a:ext cx="3228604" cy="2350344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1376" y="1423192"/>
            <a:ext cx="4295929" cy="2320648"/>
          </a:xfrm>
          <a:prstGeom prst="rect">
            <a:avLst/>
          </a:prstGeom>
        </p:spPr>
      </p:pic>
      <p:sp>
        <p:nvSpPr>
          <p:cNvPr id="15" name="Text Placeholder 1"/>
          <p:cNvSpPr>
            <a:spLocks noGrp="1"/>
          </p:cNvSpPr>
          <p:nvPr/>
        </p:nvSpPr>
        <p:spPr bwMode="auto">
          <a:xfrm>
            <a:off x="1205339" y="870934"/>
            <a:ext cx="7869380" cy="628926"/>
          </a:xfrm>
        </p:spPr>
        <p:txBody>
          <a:bodyPr lIns="91440" tIns="45720" rIns="91440" bIns="45720" anchor="ctr"/>
          <a:lstStyle>
            <a:lvl1pPr marL="0" indent="0" algn="ctr" defTabSz="914400" rtl="0">
              <a:lnSpc>
                <a:spcPct val="90000"/>
              </a:lnSpc>
              <a:spcBef>
                <a:spcPts val="999"/>
              </a:spcBef>
              <a:buFont typeface="Arial"/>
              <a:buNone/>
              <a:defRPr sz="5400" b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Arial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pt-BR" sz="1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DETALHAMENTO DAS PARTES DO CONJUNTO </a:t>
            </a:r>
            <a:endParaRPr sz="1800" b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6" name="Imagem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37" y="3880416"/>
            <a:ext cx="1991902" cy="1439660"/>
          </a:xfrm>
          <a:prstGeom prst="rect">
            <a:avLst/>
          </a:prstGeom>
        </p:spPr>
      </p:pic>
      <p:pic>
        <p:nvPicPr>
          <p:cNvPr id="17" name="Imagem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36" y="5417060"/>
            <a:ext cx="1995437" cy="1316251"/>
          </a:xfrm>
          <a:prstGeom prst="rect">
            <a:avLst/>
          </a:prstGeom>
        </p:spPr>
      </p:pic>
      <p:pic>
        <p:nvPicPr>
          <p:cNvPr id="18" name="Imagem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303" y="3835150"/>
            <a:ext cx="2469356" cy="1419367"/>
          </a:xfrm>
          <a:prstGeom prst="rect">
            <a:avLst/>
          </a:prstGeom>
        </p:spPr>
      </p:pic>
      <p:pic>
        <p:nvPicPr>
          <p:cNvPr id="19" name="Imagem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304" y="5345827"/>
            <a:ext cx="2469002" cy="143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472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3449959" name="Retângulo 3"/>
          <p:cNvSpPr/>
          <p:nvPr/>
        </p:nvSpPr>
        <p:spPr bwMode="auto">
          <a:xfrm>
            <a:off x="1267095" y="2140808"/>
            <a:ext cx="929389" cy="452481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422228516" name="Retângulo 4"/>
          <p:cNvSpPr/>
          <p:nvPr/>
        </p:nvSpPr>
        <p:spPr bwMode="auto">
          <a:xfrm>
            <a:off x="570051" y="2218928"/>
            <a:ext cx="374753" cy="116144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47110860" name="Retângulo 5"/>
          <p:cNvSpPr/>
          <p:nvPr/>
        </p:nvSpPr>
        <p:spPr bwMode="auto">
          <a:xfrm>
            <a:off x="2196485" y="4539233"/>
            <a:ext cx="8274570" cy="6533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226670086" name="CaixaDeTexto 10"/>
          <p:cNvSpPr txBox="1"/>
          <p:nvPr/>
        </p:nvSpPr>
        <p:spPr bwMode="auto">
          <a:xfrm>
            <a:off x="8734695" y="3450375"/>
            <a:ext cx="495394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pt-BR" b="1">
                <a:solidFill>
                  <a:srgbClr val="FF0000"/>
                </a:solidFill>
              </a:rPr>
              <a:t>2</a:t>
            </a:r>
            <a:endParaRPr/>
          </a:p>
        </p:txBody>
      </p:sp>
      <p:sp>
        <p:nvSpPr>
          <p:cNvPr id="2029585429" name="CaixaDeTexto 1"/>
          <p:cNvSpPr txBox="1"/>
          <p:nvPr/>
        </p:nvSpPr>
        <p:spPr bwMode="auto">
          <a:xfrm>
            <a:off x="570049" y="1641375"/>
            <a:ext cx="3688300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ÁREA DE RECEBIMENTO</a:t>
            </a:r>
            <a:endParaRPr/>
          </a:p>
        </p:txBody>
      </p:sp>
      <p:sp>
        <p:nvSpPr>
          <p:cNvPr id="683562203" name="CaixaDeTexto 2"/>
          <p:cNvSpPr txBox="1"/>
          <p:nvPr/>
        </p:nvSpPr>
        <p:spPr bwMode="auto">
          <a:xfrm>
            <a:off x="7888279" y="1678376"/>
            <a:ext cx="2841354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ÁREA DE INSPEÇÃO</a:t>
            </a:r>
            <a:endParaRPr/>
          </a:p>
        </p:txBody>
      </p:sp>
      <p:pic>
        <p:nvPicPr>
          <p:cNvPr id="191048431" name="Imagem 1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758289" y="2449252"/>
            <a:ext cx="2659638" cy="1518699"/>
          </a:xfrm>
          <a:prstGeom prst="rect">
            <a:avLst/>
          </a:prstGeom>
        </p:spPr>
      </p:pic>
      <p:sp>
        <p:nvSpPr>
          <p:cNvPr id="1522647317" name="Retângulo 16"/>
          <p:cNvSpPr/>
          <p:nvPr/>
        </p:nvSpPr>
        <p:spPr bwMode="auto">
          <a:xfrm>
            <a:off x="570050" y="3826051"/>
            <a:ext cx="374753" cy="116144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137065253" name="Seta para a Direita 24"/>
          <p:cNvSpPr/>
          <p:nvPr/>
        </p:nvSpPr>
        <p:spPr bwMode="auto">
          <a:xfrm rot="10799990">
            <a:off x="9352925" y="4812348"/>
            <a:ext cx="775854" cy="212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76953443" name="Seta para a Direita 25"/>
          <p:cNvSpPr/>
          <p:nvPr/>
        </p:nvSpPr>
        <p:spPr bwMode="auto">
          <a:xfrm rot="10799990">
            <a:off x="7901329" y="4814153"/>
            <a:ext cx="775854" cy="212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18689023" name="Seta para a Direita 26"/>
          <p:cNvSpPr/>
          <p:nvPr/>
        </p:nvSpPr>
        <p:spPr bwMode="auto">
          <a:xfrm rot="10799990">
            <a:off x="6629328" y="4812440"/>
            <a:ext cx="775854" cy="212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917849982" name="Seta para a Direita 27"/>
          <p:cNvSpPr/>
          <p:nvPr/>
        </p:nvSpPr>
        <p:spPr bwMode="auto">
          <a:xfrm rot="10799990">
            <a:off x="5573523" y="4814245"/>
            <a:ext cx="775854" cy="212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838680922" name="Seta para a Direita 28"/>
          <p:cNvSpPr/>
          <p:nvPr/>
        </p:nvSpPr>
        <p:spPr bwMode="auto">
          <a:xfrm rot="10799990">
            <a:off x="3359813" y="4810541"/>
            <a:ext cx="775854" cy="212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407490042" name="Seta para a Direita 29"/>
          <p:cNvSpPr/>
          <p:nvPr/>
        </p:nvSpPr>
        <p:spPr bwMode="auto">
          <a:xfrm rot="10799990">
            <a:off x="2290359" y="4812347"/>
            <a:ext cx="775854" cy="212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065287596" name="CaixaDeTexto 31"/>
          <p:cNvSpPr txBox="1"/>
          <p:nvPr/>
        </p:nvSpPr>
        <p:spPr bwMode="auto">
          <a:xfrm rot="16199969">
            <a:off x="109150" y="4141298"/>
            <a:ext cx="1292571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Painel 1</a:t>
            </a:r>
          </a:p>
        </p:txBody>
      </p:sp>
      <p:sp>
        <p:nvSpPr>
          <p:cNvPr id="1429005065" name="CaixaDeTexto 32"/>
          <p:cNvSpPr txBox="1"/>
          <p:nvPr/>
        </p:nvSpPr>
        <p:spPr bwMode="auto">
          <a:xfrm rot="16199969">
            <a:off x="73050" y="2538450"/>
            <a:ext cx="1317734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Painel 2</a:t>
            </a:r>
          </a:p>
        </p:txBody>
      </p:sp>
      <p:sp>
        <p:nvSpPr>
          <p:cNvPr id="1755101182" name="Seta para a Direita 33"/>
          <p:cNvSpPr/>
          <p:nvPr/>
        </p:nvSpPr>
        <p:spPr bwMode="auto">
          <a:xfrm rot="10799990">
            <a:off x="1360298" y="4805249"/>
            <a:ext cx="775854" cy="212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58975257" name="Seta para a Direita 34"/>
          <p:cNvSpPr/>
          <p:nvPr/>
        </p:nvSpPr>
        <p:spPr bwMode="auto">
          <a:xfrm rot="10799990">
            <a:off x="1360298" y="2900929"/>
            <a:ext cx="775854" cy="21245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pic>
        <p:nvPicPr>
          <p:cNvPr id="895407714" name="Imagem 3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293929" y="4556783"/>
            <a:ext cx="1001164" cy="571681"/>
          </a:xfrm>
          <a:prstGeom prst="rect">
            <a:avLst/>
          </a:prstGeom>
        </p:spPr>
      </p:pic>
      <p:pic>
        <p:nvPicPr>
          <p:cNvPr id="1711449950" name="Imagem 3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6199969">
            <a:off x="1247767" y="3407753"/>
            <a:ext cx="976875" cy="856333"/>
          </a:xfrm>
          <a:prstGeom prst="rect">
            <a:avLst/>
          </a:prstGeom>
        </p:spPr>
      </p:pic>
      <p:pic>
        <p:nvPicPr>
          <p:cNvPr id="1544675077" name="Imagem 4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821011" y="4556783"/>
            <a:ext cx="1001164" cy="571681"/>
          </a:xfrm>
          <a:prstGeom prst="rect">
            <a:avLst/>
          </a:prstGeom>
        </p:spPr>
      </p:pic>
      <p:sp>
        <p:nvSpPr>
          <p:cNvPr id="728108275" name="Retângulo 2"/>
          <p:cNvSpPr/>
          <p:nvPr/>
        </p:nvSpPr>
        <p:spPr bwMode="auto">
          <a:xfrm>
            <a:off x="0" y="765661"/>
            <a:ext cx="12191998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0665235" name="Text Placeholder 1"/>
          <p:cNvSpPr>
            <a:spLocks noGrp="1"/>
          </p:cNvSpPr>
          <p:nvPr/>
        </p:nvSpPr>
        <p:spPr bwMode="auto">
          <a:xfrm>
            <a:off x="1439577" y="68365"/>
            <a:ext cx="7869379" cy="628925"/>
          </a:xfrm>
        </p:spPr>
        <p:txBody>
          <a:bodyPr anchor="ctr"/>
          <a:lstStyle>
            <a:lvl1pPr marL="0" indent="0" algn="ctr" defTabSz="914400" rtl="0">
              <a:lnSpc>
                <a:spcPct val="90000"/>
              </a:lnSpc>
              <a:spcBef>
                <a:spcPts val="999"/>
              </a:spcBef>
              <a:buFont typeface="Arial"/>
              <a:buNone/>
              <a:defRPr sz="5400" b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Arial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2800" b="1" i="0">
                <a:solidFill>
                  <a:schemeClr val="tx1"/>
                </a:solidFill>
                <a:latin typeface="Arial"/>
              </a:rPr>
              <a:t>LOGISTICA DE MOVIMENTAÇÃO DO PAINEL</a:t>
            </a:r>
            <a:endParaRPr lang="en-US" sz="2800"/>
          </a:p>
        </p:txBody>
      </p:sp>
      <p:sp>
        <p:nvSpPr>
          <p:cNvPr id="847317194" name="Quadro 847317193"/>
          <p:cNvSpPr/>
          <p:nvPr/>
        </p:nvSpPr>
        <p:spPr bwMode="auto">
          <a:xfrm>
            <a:off x="7589364" y="2163304"/>
            <a:ext cx="3277245" cy="2227881"/>
          </a:xfrm>
          <a:prstGeom prst="frame">
            <a:avLst>
              <a:gd name="adj1" fmla="val 125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3790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640290" name="Retângulo 3"/>
          <p:cNvSpPr/>
          <p:nvPr/>
        </p:nvSpPr>
        <p:spPr bwMode="auto">
          <a:xfrm>
            <a:off x="1298824" y="2019981"/>
            <a:ext cx="929389" cy="463961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010297359" name="Retângulo 4"/>
          <p:cNvSpPr/>
          <p:nvPr/>
        </p:nvSpPr>
        <p:spPr bwMode="auto">
          <a:xfrm>
            <a:off x="601780" y="2098101"/>
            <a:ext cx="374753" cy="143905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116841947" name="Retângulo 5"/>
          <p:cNvSpPr/>
          <p:nvPr/>
        </p:nvSpPr>
        <p:spPr bwMode="auto">
          <a:xfrm>
            <a:off x="2228214" y="4418406"/>
            <a:ext cx="8274570" cy="809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051392755" name="CaixaDeTexto 6"/>
          <p:cNvSpPr txBox="1"/>
          <p:nvPr/>
        </p:nvSpPr>
        <p:spPr bwMode="auto">
          <a:xfrm>
            <a:off x="578260" y="963837"/>
            <a:ext cx="3687580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ÁREA DE RECEBIMENTO</a:t>
            </a:r>
            <a:endParaRPr/>
          </a:p>
        </p:txBody>
      </p:sp>
      <p:sp>
        <p:nvSpPr>
          <p:cNvPr id="459793483" name="CaixaDeTexto 7"/>
          <p:cNvSpPr txBox="1"/>
          <p:nvPr/>
        </p:nvSpPr>
        <p:spPr bwMode="auto">
          <a:xfrm>
            <a:off x="7827135" y="963837"/>
            <a:ext cx="2840634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ÁREA DE INSPEÇÃO</a:t>
            </a:r>
            <a:endParaRPr/>
          </a:p>
        </p:txBody>
      </p:sp>
      <p:sp>
        <p:nvSpPr>
          <p:cNvPr id="201395427" name="Retângulo 9"/>
          <p:cNvSpPr/>
          <p:nvPr/>
        </p:nvSpPr>
        <p:spPr bwMode="auto">
          <a:xfrm>
            <a:off x="601779" y="3705224"/>
            <a:ext cx="374753" cy="143905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pic>
        <p:nvPicPr>
          <p:cNvPr id="241297017" name="Imagem 1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6199969">
            <a:off x="916913" y="2685782"/>
            <a:ext cx="1741354" cy="813364"/>
          </a:xfrm>
          <a:prstGeom prst="rect">
            <a:avLst/>
          </a:prstGeom>
        </p:spPr>
      </p:pic>
      <p:sp>
        <p:nvSpPr>
          <p:cNvPr id="330517515" name="CaixaDeTexto 12"/>
          <p:cNvSpPr txBox="1"/>
          <p:nvPr/>
        </p:nvSpPr>
        <p:spPr bwMode="auto">
          <a:xfrm rot="16199969">
            <a:off x="159052" y="4233740"/>
            <a:ext cx="125478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Painel 1</a:t>
            </a:r>
          </a:p>
        </p:txBody>
      </p:sp>
      <p:sp>
        <p:nvSpPr>
          <p:cNvPr id="757076591" name="CaixaDeTexto 13"/>
          <p:cNvSpPr txBox="1"/>
          <p:nvPr/>
        </p:nvSpPr>
        <p:spPr bwMode="auto">
          <a:xfrm rot="16199969">
            <a:off x="135533" y="2632964"/>
            <a:ext cx="125478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>
                <a:latin typeface="Arial Black"/>
              </a:rPr>
              <a:t>Painel 2</a:t>
            </a:r>
          </a:p>
        </p:txBody>
      </p:sp>
      <p:sp>
        <p:nvSpPr>
          <p:cNvPr id="174478274" name="Seta para a Direita 15"/>
          <p:cNvSpPr/>
          <p:nvPr/>
        </p:nvSpPr>
        <p:spPr bwMode="auto">
          <a:xfrm>
            <a:off x="9003758" y="4689714"/>
            <a:ext cx="775854" cy="2632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13740682" name="Seta para a Direita 16"/>
          <p:cNvSpPr/>
          <p:nvPr/>
        </p:nvSpPr>
        <p:spPr bwMode="auto">
          <a:xfrm>
            <a:off x="7755634" y="4693326"/>
            <a:ext cx="775854" cy="2632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830287755" name="Seta para a Direita 17"/>
          <p:cNvSpPr/>
          <p:nvPr/>
        </p:nvSpPr>
        <p:spPr bwMode="auto">
          <a:xfrm>
            <a:off x="6497281" y="4691613"/>
            <a:ext cx="775854" cy="2632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469897801" name="Seta para a Direita 18"/>
          <p:cNvSpPr/>
          <p:nvPr/>
        </p:nvSpPr>
        <p:spPr bwMode="auto">
          <a:xfrm>
            <a:off x="5236756" y="4693419"/>
            <a:ext cx="775854" cy="2632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358610877" name="Seta para a Direita 19"/>
          <p:cNvSpPr/>
          <p:nvPr/>
        </p:nvSpPr>
        <p:spPr bwMode="auto">
          <a:xfrm>
            <a:off x="4019348" y="4689714"/>
            <a:ext cx="775854" cy="2632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81385299" name="Seta para a Direita 20"/>
          <p:cNvSpPr/>
          <p:nvPr/>
        </p:nvSpPr>
        <p:spPr bwMode="auto">
          <a:xfrm>
            <a:off x="2881656" y="4691520"/>
            <a:ext cx="775854" cy="2632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910737790" name="Seta para Baixo 22"/>
          <p:cNvSpPr/>
          <p:nvPr/>
        </p:nvSpPr>
        <p:spPr bwMode="auto">
          <a:xfrm>
            <a:off x="1646509" y="4121406"/>
            <a:ext cx="219704" cy="40292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55394049" name="Seta para a Direita 23"/>
          <p:cNvSpPr/>
          <p:nvPr/>
        </p:nvSpPr>
        <p:spPr bwMode="auto">
          <a:xfrm>
            <a:off x="1846700" y="4693793"/>
            <a:ext cx="775854" cy="2632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625524416" name="Seta para Baixo 25"/>
          <p:cNvSpPr/>
          <p:nvPr/>
        </p:nvSpPr>
        <p:spPr bwMode="auto">
          <a:xfrm rot="10799990">
            <a:off x="10056141" y="4422443"/>
            <a:ext cx="265864" cy="53454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pic>
        <p:nvPicPr>
          <p:cNvPr id="1071066161" name="Imagem 2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890236" y="4464545"/>
            <a:ext cx="1455261" cy="679734"/>
          </a:xfrm>
          <a:prstGeom prst="rect">
            <a:avLst/>
          </a:prstGeom>
        </p:spPr>
      </p:pic>
      <p:sp>
        <p:nvSpPr>
          <p:cNvPr id="384889349" name="Retângulo 2"/>
          <p:cNvSpPr/>
          <p:nvPr/>
        </p:nvSpPr>
        <p:spPr bwMode="auto">
          <a:xfrm>
            <a:off x="0" y="765661"/>
            <a:ext cx="12191998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74704657" name="Text Placeholder 1"/>
          <p:cNvSpPr>
            <a:spLocks noGrp="1"/>
          </p:cNvSpPr>
          <p:nvPr>
            <p:ph type="body" sz="quarter" idx="10"/>
          </p:nvPr>
        </p:nvSpPr>
        <p:spPr bwMode="auto">
          <a:xfrm>
            <a:off x="1531018" y="80562"/>
            <a:ext cx="7869379" cy="628925"/>
          </a:xfrm>
        </p:spPr>
        <p:txBody>
          <a:bodyPr/>
          <a:lstStyle/>
          <a:p>
            <a:pPr>
              <a:defRPr/>
            </a:pPr>
            <a:r>
              <a:rPr lang="pt-BR" sz="2800" b="1" i="0">
                <a:solidFill>
                  <a:schemeClr val="tx1"/>
                </a:solidFill>
                <a:latin typeface="Arial"/>
              </a:rPr>
              <a:t>LOGISTICA DE MOVIMENTAÇÃO DO PAINEL</a:t>
            </a:r>
            <a:endParaRPr lang="en-US" sz="2800"/>
          </a:p>
        </p:txBody>
      </p:sp>
      <p:pic>
        <p:nvPicPr>
          <p:cNvPr id="1563849217" name="Imagem 1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273135" y="1478976"/>
            <a:ext cx="3778537" cy="1764908"/>
          </a:xfrm>
          <a:prstGeom prst="rect">
            <a:avLst/>
          </a:prstGeom>
        </p:spPr>
      </p:pic>
      <p:sp>
        <p:nvSpPr>
          <p:cNvPr id="2087636222" name="Quadro 2087636221"/>
          <p:cNvSpPr/>
          <p:nvPr/>
        </p:nvSpPr>
        <p:spPr bwMode="auto">
          <a:xfrm>
            <a:off x="6814448" y="1436821"/>
            <a:ext cx="4649491" cy="1985720"/>
          </a:xfrm>
          <a:prstGeom prst="frame">
            <a:avLst>
              <a:gd name="adj1" fmla="val 125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1" name="CaixaDeTexto 4"/>
          <p:cNvSpPr txBox="1"/>
          <p:nvPr/>
        </p:nvSpPr>
        <p:spPr bwMode="auto">
          <a:xfrm>
            <a:off x="9558371" y="259590"/>
            <a:ext cx="2728661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dirty="0"/>
              <a:t>Slide: </a:t>
            </a:r>
            <a:r>
              <a:rPr lang="pt-BR" dirty="0" err="1"/>
              <a:t>Katty</a:t>
            </a:r>
            <a:r>
              <a:rPr lang="pt-BR" dirty="0"/>
              <a:t> Anne</a:t>
            </a:r>
            <a:endParaRPr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/>
          <a:srcRect l="8522" t="3644" b="3076"/>
          <a:stretch/>
        </p:blipFill>
        <p:spPr>
          <a:xfrm>
            <a:off x="10667769" y="5227875"/>
            <a:ext cx="1235460" cy="1289334"/>
          </a:xfrm>
          <a:prstGeom prst="rect">
            <a:avLst/>
          </a:prstGeom>
        </p:spPr>
      </p:pic>
      <p:sp>
        <p:nvSpPr>
          <p:cNvPr id="27" name="CaixaDeTexto 26"/>
          <p:cNvSpPr txBox="1"/>
          <p:nvPr/>
        </p:nvSpPr>
        <p:spPr bwMode="auto">
          <a:xfrm>
            <a:off x="3269698" y="5682791"/>
            <a:ext cx="6060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"Bancada " atende, à NR-17 (Ergonomia) ao reduzir o esforço e ajustar a posição do painel.</a:t>
            </a:r>
          </a:p>
        </p:txBody>
      </p:sp>
    </p:spTree>
    <p:extLst>
      <p:ext uri="{BB962C8B-B14F-4D97-AF65-F5344CB8AC3E}">
        <p14:creationId xmlns:p14="http://schemas.microsoft.com/office/powerpoint/2010/main" val="545518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FC90F-13FF-1A6A-9105-39984E31E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05F728-7B94-805F-F2B0-A0213A22EB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2945" y="68368"/>
            <a:ext cx="7869382" cy="628928"/>
          </a:xfrm>
        </p:spPr>
        <p:txBody>
          <a:bodyPr/>
          <a:lstStyle/>
          <a:p>
            <a:r>
              <a:rPr lang="pt-BR" sz="2800" b="1" i="0" dirty="0">
                <a:solidFill>
                  <a:schemeClr val="tx1"/>
                </a:solidFill>
                <a:effectLst/>
                <a:latin typeface="+mn-lt"/>
              </a:rPr>
              <a:t>Planilha de Custo Médio</a:t>
            </a:r>
            <a:endParaRPr lang="en-US" sz="2800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02C898B-1CA7-3509-9F14-90C5E3C03D4C}"/>
              </a:ext>
            </a:extLst>
          </p:cNvPr>
          <p:cNvSpPr/>
          <p:nvPr/>
        </p:nvSpPr>
        <p:spPr>
          <a:xfrm>
            <a:off x="0" y="765664"/>
            <a:ext cx="12192000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B185220-921B-0B1C-A688-E084CCC79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55" y="1836129"/>
            <a:ext cx="10632089" cy="318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108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1617730" name="Text Placeholder 1"/>
          <p:cNvSpPr>
            <a:spLocks noGrp="1"/>
          </p:cNvSpPr>
          <p:nvPr>
            <p:ph type="body" sz="quarter" idx="10"/>
          </p:nvPr>
        </p:nvSpPr>
        <p:spPr bwMode="auto">
          <a:xfrm>
            <a:off x="0" y="286165"/>
            <a:ext cx="9486308" cy="312976"/>
          </a:xfrm>
        </p:spPr>
        <p:txBody>
          <a:bodyPr lIns="91440" tIns="45720" rIns="91440" bIns="45720" anchor="ctr">
            <a:normAutofit fontScale="70000" lnSpcReduction="20000"/>
          </a:bodyPr>
          <a:lstStyle/>
          <a:p>
            <a:pPr>
              <a:defRPr/>
            </a:pPr>
            <a:r>
              <a:rPr lang="pt-BR" sz="2400" b="1" dirty="0">
                <a:solidFill>
                  <a:schemeClr val="tx1"/>
                </a:solidFill>
                <a:latin typeface="+mn-lt"/>
              </a:rPr>
              <a:t>Segurança na Movimentação e Inspeção de Painéis</a:t>
            </a:r>
            <a:endParaRPr lang="pt-BR" sz="2400" b="1" dirty="0">
              <a:solidFill>
                <a:schemeClr val="tx1"/>
              </a:solidFill>
            </a:endParaRPr>
          </a:p>
        </p:txBody>
      </p:sp>
      <p:sp>
        <p:nvSpPr>
          <p:cNvPr id="1690839614" name="Retângulo 2"/>
          <p:cNvSpPr/>
          <p:nvPr/>
        </p:nvSpPr>
        <p:spPr bwMode="auto">
          <a:xfrm>
            <a:off x="0" y="765664"/>
            <a:ext cx="12192000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5D6CEE7-2494-4E2C-A349-696FDA3B29A7}"/>
              </a:ext>
            </a:extLst>
          </p:cNvPr>
          <p:cNvSpPr/>
          <p:nvPr/>
        </p:nvSpPr>
        <p:spPr>
          <a:xfrm>
            <a:off x="466165" y="1226967"/>
            <a:ext cx="5629835" cy="27930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tx1"/>
                </a:solidFill>
              </a:rPr>
              <a:t>EPIs essenciais para segurança do operador e ergonomia no ambiente industrial:</a:t>
            </a:r>
          </a:p>
          <a:p>
            <a:endParaRPr lang="pt-BR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Capacete: proteção contra impactos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Óculos de proteção: evita contato com partículas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Luvas: previnem cortes e esmagamentos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Calçado de segurança: evita escorregões e lesões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Protetor auricular: reduz danos por ruído.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07BF640-5C42-432E-91A2-1540B5F18F8B}"/>
              </a:ext>
            </a:extLst>
          </p:cNvPr>
          <p:cNvSpPr/>
          <p:nvPr/>
        </p:nvSpPr>
        <p:spPr>
          <a:xfrm>
            <a:off x="466166" y="4465874"/>
            <a:ext cx="5629834" cy="21059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tx1"/>
                </a:solidFill>
              </a:rPr>
              <a:t>Procedimentos Seguros:</a:t>
            </a:r>
          </a:p>
          <a:p>
            <a:endParaRPr lang="pt-BR" sz="14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Verificar fixação de grampos, olhais e travas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Conferir posicionamento do painel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Operar sempre em dupla (A e B)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Nunca ficar sob o painel suspenso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5873C29-2E57-46BB-BE66-53B1DE634BE6}"/>
              </a:ext>
            </a:extLst>
          </p:cNvPr>
          <p:cNvSpPr/>
          <p:nvPr/>
        </p:nvSpPr>
        <p:spPr>
          <a:xfrm>
            <a:off x="6393837" y="1818506"/>
            <a:ext cx="5163670" cy="4196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tx1"/>
                </a:solidFill>
              </a:rPr>
              <a:t>Riscos Controlados:</a:t>
            </a:r>
          </a:p>
          <a:p>
            <a:pPr>
              <a:lnSpc>
                <a:spcPct val="150000"/>
              </a:lnSpc>
            </a:pPr>
            <a:r>
              <a:rPr lang="pt-BR" sz="1700" dirty="0">
                <a:solidFill>
                  <a:schemeClr val="tx1"/>
                </a:solidFill>
              </a:rPr>
              <a:t>Esmagamento, queda de painel, esforço excessivo, ruído e impacto.</a:t>
            </a:r>
          </a:p>
          <a:p>
            <a:pPr>
              <a:lnSpc>
                <a:spcPct val="150000"/>
              </a:lnSpc>
            </a:pPr>
            <a:endParaRPr lang="pt-BR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tx1"/>
                </a:solidFill>
              </a:rPr>
              <a:t>Medidas Preventivas: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tx1"/>
                </a:solidFill>
              </a:rPr>
              <a:t>Sinalização da área, </a:t>
            </a:r>
            <a:r>
              <a:rPr lang="pt-BR" dirty="0" err="1">
                <a:solidFill>
                  <a:schemeClr val="tx1"/>
                </a:solidFill>
              </a:rPr>
              <a:t>check-list</a:t>
            </a:r>
            <a:r>
              <a:rPr lang="pt-BR" dirty="0">
                <a:solidFill>
                  <a:schemeClr val="tx1"/>
                </a:solidFill>
              </a:rPr>
              <a:t> pré-operacional, manutenção do berço.</a:t>
            </a:r>
          </a:p>
          <a:p>
            <a:pPr>
              <a:lnSpc>
                <a:spcPct val="150000"/>
              </a:lnSpc>
            </a:pPr>
            <a:endParaRPr lang="pt-BR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tx1"/>
                </a:solidFill>
              </a:rPr>
              <a:t>Normas de Referência: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tx1"/>
                </a:solidFill>
              </a:rPr>
              <a:t>NR-12 • NR-17 • NBR 8400</a:t>
            </a:r>
          </a:p>
        </p:txBody>
      </p:sp>
    </p:spTree>
    <p:extLst>
      <p:ext uri="{BB962C8B-B14F-4D97-AF65-F5344CB8AC3E}">
        <p14:creationId xmlns:p14="http://schemas.microsoft.com/office/powerpoint/2010/main" val="3886595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009842" name="Retângulo 2"/>
          <p:cNvSpPr/>
          <p:nvPr/>
        </p:nvSpPr>
        <p:spPr bwMode="auto">
          <a:xfrm>
            <a:off x="0" y="765662"/>
            <a:ext cx="12191999" cy="1228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79595525" name="Text Placeholder 1"/>
          <p:cNvSpPr>
            <a:spLocks noGrp="1"/>
          </p:cNvSpPr>
          <p:nvPr>
            <p:ph type="body" sz="quarter" idx="10"/>
          </p:nvPr>
        </p:nvSpPr>
        <p:spPr bwMode="auto">
          <a:xfrm>
            <a:off x="851647" y="68365"/>
            <a:ext cx="8467550" cy="628926"/>
          </a:xfrm>
        </p:spPr>
        <p:txBody>
          <a:bodyPr/>
          <a:lstStyle/>
          <a:p>
            <a:pPr>
              <a:defRPr/>
            </a:pPr>
            <a:r>
              <a:rPr lang="pt-BR" sz="2800" b="1" dirty="0">
                <a:solidFill>
                  <a:schemeClr val="tx1"/>
                </a:solidFill>
              </a:rPr>
              <a:t>ERGONOMIA E SEGURANÇA </a:t>
            </a:r>
            <a:r>
              <a:rPr lang="pt-BR" sz="2800" b="1" i="0" dirty="0">
                <a:solidFill>
                  <a:schemeClr val="tx1"/>
                </a:solidFill>
                <a:latin typeface="Arial"/>
              </a:rPr>
              <a:t>NA OPERAÇÃO</a:t>
            </a:r>
            <a:endParaRPr lang="en-US" sz="2800" dirty="0"/>
          </a:p>
        </p:txBody>
      </p:sp>
      <p:sp>
        <p:nvSpPr>
          <p:cNvPr id="11" name="CaixaDeTexto 2">
            <a:extLst>
              <a:ext uri="{FF2B5EF4-FFF2-40B4-BE49-F238E27FC236}">
                <a16:creationId xmlns:a16="http://schemas.microsoft.com/office/drawing/2014/main" id="{84089E74-765E-4B4C-88B9-488C2666B0B3}"/>
              </a:ext>
            </a:extLst>
          </p:cNvPr>
          <p:cNvSpPr txBox="1"/>
          <p:nvPr/>
        </p:nvSpPr>
        <p:spPr bwMode="auto">
          <a:xfrm>
            <a:off x="414611" y="1259570"/>
            <a:ext cx="10701623" cy="43672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pt-BR" sz="2400" b="1" dirty="0"/>
              <a:t>PARA GARANTIR A SEGURANÇA DOS OPERADORES E DO PAINEL:</a:t>
            </a:r>
            <a:endParaRPr sz="2400" dirty="0"/>
          </a:p>
          <a:p>
            <a:pPr>
              <a:defRPr/>
            </a:pPr>
            <a:endParaRPr lang="pt-BR" sz="2000" b="1" dirty="0">
              <a:ea typeface="Arial Unicode MS"/>
              <a:cs typeface="+mn-lt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ea typeface="+mn-lt"/>
                <a:cs typeface="+mn-lt"/>
              </a:rPr>
              <a:t>Redução do esforço físico dos operadores.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ea typeface="+mn-lt"/>
                <a:cs typeface="+mn-lt"/>
              </a:rPr>
              <a:t>Altura e posição do painel ajustadas de forma ergonômica.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ea typeface="+mn-lt"/>
                <a:cs typeface="+mn-lt"/>
              </a:rPr>
              <a:t>Garras dimensionadas para evitar escorregamento e danos ao painel.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ea typeface="+mn-lt"/>
                <a:cs typeface="+mn-lt"/>
              </a:rPr>
              <a:t>Guias e travas garantem estabilidade durante transporte e inspeção.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ea typeface="+mn-lt"/>
                <a:cs typeface="+mn-lt"/>
              </a:rPr>
              <a:t>Procedimento seguro: do recebimento → transporte → posicionamento.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ea typeface="+mn-lt"/>
                <a:cs typeface="+mn-lt"/>
              </a:rPr>
              <a:t>Eliminação de riscos de esmagamento, queda ou torção do painel.</a:t>
            </a:r>
            <a:endParaRPr lang="pt-BR" sz="20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4ABB240-1D11-4A47-9A19-3C489BB74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2675" y="4019739"/>
            <a:ext cx="1607117" cy="160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353966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1ddf61d-3231-43c1-a5c5-f1b565217609">
      <Terms xmlns="http://schemas.microsoft.com/office/infopath/2007/PartnerControls"/>
    </lcf76f155ced4ddcb4097134ff3c332f>
    <TaxCatchAll xmlns="db54d00f-abbd-4c5d-a8df-662c51666f8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60F90E8215DF7408C40BB960B1D8C24" ma:contentTypeVersion="11" ma:contentTypeDescription="Crie um novo documento." ma:contentTypeScope="" ma:versionID="d33a82d83b2d2ed4979a74d0ec9c0812">
  <xsd:schema xmlns:xsd="http://www.w3.org/2001/XMLSchema" xmlns:xs="http://www.w3.org/2001/XMLSchema" xmlns:p="http://schemas.microsoft.com/office/2006/metadata/properties" xmlns:ns2="21ddf61d-3231-43c1-a5c5-f1b565217609" xmlns:ns3="db54d00f-abbd-4c5d-a8df-662c51666f86" targetNamespace="http://schemas.microsoft.com/office/2006/metadata/properties" ma:root="true" ma:fieldsID="95a9287d9200ca01f5954e4c9f674fc8" ns2:_="" ns3:_="">
    <xsd:import namespace="21ddf61d-3231-43c1-a5c5-f1b565217609"/>
    <xsd:import namespace="db54d00f-abbd-4c5d-a8df-662c51666f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ddf61d-3231-43c1-a5c5-f1b5652176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54d00f-abbd-4c5d-a8df-662c51666f8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c527f9e-ec4c-4860-8256-0e0c4cb3a020}" ma:internalName="TaxCatchAll" ma:showField="CatchAllData" ma:web="db54d00f-abbd-4c5d-a8df-662c51666f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3D3ECD-A638-414C-81F4-205C13C9DB0C}">
  <ds:schemaRefs>
    <ds:schemaRef ds:uri="http://schemas.microsoft.com/office/2006/metadata/properties"/>
    <ds:schemaRef ds:uri="http://schemas.microsoft.com/office/infopath/2007/PartnerControls"/>
    <ds:schemaRef ds:uri="21ddf61d-3231-43c1-a5c5-f1b565217609"/>
    <ds:schemaRef ds:uri="db54d00f-abbd-4c5d-a8df-662c51666f86"/>
  </ds:schemaRefs>
</ds:datastoreItem>
</file>

<file path=customXml/itemProps2.xml><?xml version="1.0" encoding="utf-8"?>
<ds:datastoreItem xmlns:ds="http://schemas.openxmlformats.org/officeDocument/2006/customXml" ds:itemID="{D9B97520-148B-484B-8C14-EA61EB7455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ABCA161-02CB-4B43-8E66-B7786B5488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ddf61d-3231-43c1-a5c5-f1b565217609"/>
    <ds:schemaRef ds:uri="db54d00f-abbd-4c5d-a8df-662c51666f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231</TotalTime>
  <Words>412</Words>
  <Application>Microsoft Office PowerPoint</Application>
  <PresentationFormat>Widescreen</PresentationFormat>
  <Paragraphs>84</Paragraphs>
  <Slides>14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2" baseType="lpstr">
      <vt:lpstr>Arial Unicode MS</vt:lpstr>
      <vt:lpstr>Arial</vt:lpstr>
      <vt:lpstr>Arial Black</vt:lpstr>
      <vt:lpstr>Calibri</vt:lpstr>
      <vt:lpstr>Century Gothic</vt:lpstr>
      <vt:lpstr>Times New Roman</vt:lpstr>
      <vt:lpstr>Wingdings 3</vt:lpstr>
      <vt:lpstr>Fatia</vt:lpstr>
      <vt:lpstr>XII Feira de Soluções</vt:lpstr>
      <vt:lpstr>Integrantes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XII Feira de Soluções</dc:title>
  <dc:creator>Fabiano Sabha</dc:creator>
  <cp:lastModifiedBy>Sidney</cp:lastModifiedBy>
  <cp:revision>44</cp:revision>
  <dcterms:created xsi:type="dcterms:W3CDTF">2024-06-04T15:06:00Z</dcterms:created>
  <dcterms:modified xsi:type="dcterms:W3CDTF">2025-11-30T23:08:24Z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123EC1BF99294417B08FEDD505CC8C1E_12</vt:lpwstr>
  </property>
  <property fmtid="{D5CDD505-2E9C-101B-9397-08002B2CF9AE}" pid="3" name="KSOProductBuildVer">
    <vt:lpwstr>1046-12.2.0.21179</vt:lpwstr>
  </property>
  <property fmtid="{D5CDD505-2E9C-101B-9397-08002B2CF9AE}" pid="4" name="ContentTypeId">
    <vt:lpwstr>0x010100C60F90E8215DF7408C40BB960B1D8C24</vt:lpwstr>
  </property>
</Properties>
</file>